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72" r:id="rId6"/>
    <p:sldId id="262" r:id="rId7"/>
    <p:sldId id="273" r:id="rId8"/>
    <p:sldId id="268" r:id="rId9"/>
    <p:sldId id="274" r:id="rId10"/>
    <p:sldId id="269" r:id="rId11"/>
    <p:sldId id="275" r:id="rId12"/>
    <p:sldId id="265" r:id="rId13"/>
    <p:sldId id="270" r:id="rId14"/>
    <p:sldId id="271" r:id="rId15"/>
    <p:sldId id="266" r:id="rId1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874" y="4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60090" y="429894"/>
            <a:ext cx="5376545" cy="9112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9742" y="1754564"/>
            <a:ext cx="11232514" cy="4413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76500" y="381000"/>
            <a:ext cx="7239000" cy="111442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826577" y="2106648"/>
            <a:ext cx="10913428" cy="109889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156585" marR="5080" indent="-3144520" algn="l">
              <a:lnSpc>
                <a:spcPct val="100899"/>
              </a:lnSpc>
              <a:spcBef>
                <a:spcPts val="90"/>
              </a:spcBef>
            </a:pPr>
            <a:r>
              <a:rPr lang="en-US" sz="3600" dirty="0"/>
              <a:t>Intelligent API Attack Detection and Runtime Protection Framework</a:t>
            </a:r>
            <a:endParaRPr sz="3350" dirty="0"/>
          </a:p>
        </p:txBody>
      </p:sp>
      <p:sp>
        <p:nvSpPr>
          <p:cNvPr id="4" name="object 4"/>
          <p:cNvSpPr txBox="1"/>
          <p:nvPr/>
        </p:nvSpPr>
        <p:spPr>
          <a:xfrm>
            <a:off x="4191000" y="3479017"/>
            <a:ext cx="6184583" cy="3468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2150" b="1" dirty="0">
                <a:latin typeface="Times New Roman"/>
                <a:cs typeface="Times New Roman"/>
              </a:rPr>
              <a:t>ITA1406 </a:t>
            </a:r>
            <a:r>
              <a:rPr lang="en-IN" sz="2150" b="1" dirty="0">
                <a:latin typeface="Times New Roman"/>
                <a:cs typeface="Times New Roman"/>
              </a:rPr>
              <a:t>–</a:t>
            </a:r>
            <a:r>
              <a:rPr lang="en-US" sz="2150" b="1" dirty="0">
                <a:latin typeface="Times New Roman"/>
                <a:cs typeface="Times New Roman"/>
              </a:rPr>
              <a:t> Ethical Hacking </a:t>
            </a:r>
            <a:endParaRPr sz="215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6072" y="4915655"/>
            <a:ext cx="3204845" cy="1174750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2700" b="1" dirty="0">
                <a:solidFill>
                  <a:srgbClr val="FF0000"/>
                </a:solidFill>
                <a:latin typeface="Times New Roman"/>
                <a:cs typeface="Times New Roman"/>
              </a:rPr>
              <a:t>Supervised</a:t>
            </a:r>
            <a:r>
              <a:rPr sz="27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By</a:t>
            </a:r>
            <a:endParaRPr sz="27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850" b="1" dirty="0">
                <a:latin typeface="Times New Roman"/>
                <a:cs typeface="Times New Roman"/>
              </a:rPr>
              <a:t>Dr</a:t>
            </a:r>
            <a:r>
              <a:rPr lang="en-US" sz="1850" b="1" dirty="0">
                <a:latin typeface="Times New Roman"/>
                <a:cs typeface="Times New Roman"/>
              </a:rPr>
              <a:t>. Ezhil Grace A </a:t>
            </a:r>
            <a:endParaRPr sz="18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850" b="1" dirty="0">
                <a:latin typeface="Times New Roman"/>
                <a:cs typeface="Times New Roman"/>
              </a:rPr>
              <a:t>SIMATS</a:t>
            </a:r>
            <a:r>
              <a:rPr sz="1850" b="1" spc="195" dirty="0">
                <a:latin typeface="Times New Roman"/>
                <a:cs typeface="Times New Roman"/>
              </a:rPr>
              <a:t> </a:t>
            </a:r>
            <a:r>
              <a:rPr sz="1850" b="1" spc="-10" dirty="0">
                <a:latin typeface="Times New Roman"/>
                <a:cs typeface="Times New Roman"/>
              </a:rPr>
              <a:t>Engineering</a:t>
            </a:r>
            <a:endParaRPr sz="185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91400" y="4748464"/>
            <a:ext cx="4076700" cy="1902059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1850" b="1" dirty="0">
                <a:solidFill>
                  <a:srgbClr val="FF0000"/>
                </a:solidFill>
                <a:latin typeface="Times New Roman"/>
                <a:cs typeface="Times New Roman"/>
              </a:rPr>
              <a:t>Presented</a:t>
            </a:r>
            <a:r>
              <a:rPr sz="1850" b="1" spc="1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5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By</a:t>
            </a:r>
            <a:endParaRPr sz="1850" dirty="0">
              <a:latin typeface="Times New Roman"/>
              <a:cs typeface="Times New Roman"/>
            </a:endParaRPr>
          </a:p>
          <a:p>
            <a:pPr marL="12700" marR="5080">
              <a:lnSpc>
                <a:spcPct val="129400"/>
              </a:lnSpc>
              <a:spcBef>
                <a:spcPts val="55"/>
              </a:spcBef>
            </a:pPr>
            <a:r>
              <a:rPr lang="en-US" sz="1850" b="1" dirty="0">
                <a:latin typeface="Times New Roman"/>
                <a:cs typeface="Times New Roman"/>
              </a:rPr>
              <a:t>SELVA</a:t>
            </a:r>
            <a:r>
              <a:rPr lang="en-US" sz="1850" b="1" spc="204" dirty="0">
                <a:latin typeface="Times New Roman"/>
                <a:cs typeface="Times New Roman"/>
              </a:rPr>
              <a:t> </a:t>
            </a:r>
            <a:r>
              <a:rPr lang="en-US" sz="1850" b="1" dirty="0">
                <a:latin typeface="Times New Roman"/>
                <a:cs typeface="Times New Roman"/>
              </a:rPr>
              <a:t>PRABHU</a:t>
            </a:r>
            <a:r>
              <a:rPr lang="en-US" sz="1850" b="1" spc="110" dirty="0">
                <a:latin typeface="Times New Roman"/>
                <a:cs typeface="Times New Roman"/>
              </a:rPr>
              <a:t> </a:t>
            </a:r>
            <a:r>
              <a:rPr lang="en-US" sz="1850" b="1" spc="-10" dirty="0">
                <a:latin typeface="Times New Roman"/>
                <a:cs typeface="Times New Roman"/>
              </a:rPr>
              <a:t>A K (192421224) </a:t>
            </a:r>
          </a:p>
          <a:p>
            <a:pPr marL="12700" marR="5080">
              <a:lnSpc>
                <a:spcPct val="129400"/>
              </a:lnSpc>
              <a:spcBef>
                <a:spcPts val="55"/>
              </a:spcBef>
            </a:pPr>
            <a:r>
              <a:rPr lang="en-US" sz="1850" b="1" spc="-10" dirty="0">
                <a:latin typeface="Times New Roman"/>
                <a:cs typeface="Times New Roman"/>
              </a:rPr>
              <a:t>Hariharan E (19</a:t>
            </a:r>
            <a:r>
              <a:rPr lang="en-IN" b="1" spc="-10" dirty="0">
                <a:latin typeface="Times New Roman"/>
                <a:cs typeface="Times New Roman"/>
              </a:rPr>
              <a:t>2421057</a:t>
            </a:r>
            <a:r>
              <a:rPr lang="en-US" sz="1850" b="1" spc="-10" dirty="0">
                <a:latin typeface="Times New Roman"/>
                <a:cs typeface="Times New Roman"/>
              </a:rPr>
              <a:t>)</a:t>
            </a:r>
          </a:p>
          <a:p>
            <a:pPr marL="12700" marR="5080">
              <a:lnSpc>
                <a:spcPct val="129400"/>
              </a:lnSpc>
              <a:spcBef>
                <a:spcPts val="55"/>
              </a:spcBef>
            </a:pPr>
            <a:r>
              <a:rPr lang="en-US" sz="1850" b="1" spc="-10" dirty="0">
                <a:latin typeface="Times New Roman"/>
                <a:cs typeface="Times New Roman"/>
              </a:rPr>
              <a:t>Sanjay </a:t>
            </a:r>
            <a:r>
              <a:rPr lang="en-US" sz="1850" b="1" spc="-10" dirty="0" err="1">
                <a:latin typeface="Times New Roman"/>
                <a:cs typeface="Times New Roman"/>
              </a:rPr>
              <a:t>Josewa</a:t>
            </a:r>
            <a:r>
              <a:rPr lang="en-US" sz="1850" b="1" spc="-10" dirty="0">
                <a:latin typeface="Times New Roman"/>
                <a:cs typeface="Times New Roman"/>
              </a:rPr>
              <a:t> (192511333)</a:t>
            </a: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endParaRPr lang="en-IN" sz="18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1950" y="190500"/>
            <a:ext cx="1095375" cy="1343025"/>
          </a:xfrm>
          <a:prstGeom prst="rect">
            <a:avLst/>
          </a:prstGeom>
        </p:spPr>
      </p:pic>
      <p:pic>
        <p:nvPicPr>
          <p:cNvPr id="3" name="object 3" descr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5600" y="190500"/>
            <a:ext cx="1514475" cy="1343025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3260090" y="429894"/>
            <a:ext cx="5376545" cy="768158"/>
          </a:xfrm>
          <a:prstGeom prst="rect">
            <a:avLst/>
          </a:prstGeom>
        </p:spPr>
        <p:txBody>
          <a:bodyPr vert="horz" wrap="square" lIns="0" tIns="212089" rIns="0" bIns="0" rtlCol="0">
            <a:spAutoFit/>
          </a:bodyPr>
          <a:lstStyle/>
          <a:p>
            <a:pPr marL="1353820">
              <a:lnSpc>
                <a:spcPct val="100000"/>
              </a:lnSpc>
              <a:spcBef>
                <a:spcPts val="130"/>
              </a:spcBef>
            </a:pPr>
            <a:r>
              <a:rPr lang="en-IN" sz="3600" spc="-10" dirty="0"/>
              <a:t>Introduction</a:t>
            </a:r>
            <a:endParaRPr sz="3600" dirty="0"/>
          </a:p>
        </p:txBody>
      </p:sp>
      <p:sp>
        <p:nvSpPr>
          <p:cNvPr id="5" name="object 5"/>
          <p:cNvSpPr txBox="1"/>
          <p:nvPr/>
        </p:nvSpPr>
        <p:spPr>
          <a:xfrm>
            <a:off x="1371600" y="1905000"/>
            <a:ext cx="9829483" cy="3800849"/>
          </a:xfrm>
          <a:prstGeom prst="rect">
            <a:avLst/>
          </a:prstGeom>
        </p:spPr>
        <p:txBody>
          <a:bodyPr vert="horz" wrap="square" lIns="0" tIns="199390" rIns="0" bIns="0" rtlCol="0">
            <a:spAutoFit/>
          </a:bodyPr>
          <a:lstStyle/>
          <a:p>
            <a:pPr marL="342900" lvl="0" indent="-3429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APIs are widely used to connect applications, services, and users. </a:t>
            </a:r>
          </a:p>
          <a:p>
            <a:pPr marL="342900" lvl="0" indent="-3429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Increasing API usage also increases the risk of cyberattacks and unauthorized access. </a:t>
            </a:r>
          </a:p>
          <a:p>
            <a:pPr marL="342900" lvl="0" indent="-3429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security methods may fail to identify new or abnormal attack patterns. </a:t>
            </a:r>
          </a:p>
          <a:p>
            <a:pPr marL="342900" lvl="0" indent="-3429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uses intelligent monitoring and machine learning to detect API threats in real time. </a:t>
            </a:r>
          </a:p>
          <a:p>
            <a:pPr marL="342900" lvl="0" indent="-3429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framework combines attack detection with automatic runtime protection.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1950" y="190500"/>
            <a:ext cx="1095375" cy="1343025"/>
          </a:xfrm>
          <a:prstGeom prst="rect">
            <a:avLst/>
          </a:prstGeom>
        </p:spPr>
      </p:pic>
      <p:pic>
        <p:nvPicPr>
          <p:cNvPr id="3" name="object 3" descr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5600" y="190500"/>
            <a:ext cx="1514475" cy="1343025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3260090" y="429894"/>
            <a:ext cx="6246178" cy="768158"/>
          </a:xfrm>
          <a:prstGeom prst="rect">
            <a:avLst/>
          </a:prstGeom>
        </p:spPr>
        <p:txBody>
          <a:bodyPr vert="horz" wrap="square" lIns="0" tIns="212089" rIns="0" bIns="0" rtlCol="0">
            <a:spAutoFit/>
          </a:bodyPr>
          <a:lstStyle/>
          <a:p>
            <a:pPr marL="264795">
              <a:lnSpc>
                <a:spcPct val="100000"/>
              </a:lnSpc>
              <a:spcBef>
                <a:spcPts val="130"/>
              </a:spcBef>
            </a:pPr>
            <a:r>
              <a:rPr lang="en-IN" sz="3600" dirty="0"/>
              <a:t>PROBLEM</a:t>
            </a:r>
            <a:r>
              <a:rPr lang="en-IN" sz="3600" spc="140" dirty="0"/>
              <a:t> </a:t>
            </a:r>
            <a:r>
              <a:rPr lang="en-IN" sz="3600" spc="-10" dirty="0"/>
              <a:t>STATEMENT</a:t>
            </a:r>
            <a:endParaRPr lang="en-IN" sz="3600" dirty="0"/>
          </a:p>
        </p:txBody>
      </p:sp>
      <p:sp>
        <p:nvSpPr>
          <p:cNvPr id="5" name="object 5"/>
          <p:cNvSpPr txBox="1"/>
          <p:nvPr/>
        </p:nvSpPr>
        <p:spPr>
          <a:xfrm>
            <a:off x="1457325" y="2209800"/>
            <a:ext cx="9563418" cy="32524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APIs can be targeted by attacks such as unauthorized access, injection, and abnormal request flooding.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monitoring makes it difficult to identify attacks quickly.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Signature-based security alone may not detect unknown or evolving threats.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Delayed response to malicious requests can affect API availability and data security.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real-time system is needed to detect,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automatically respond to API attacks.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260090" y="429894"/>
            <a:ext cx="5376545" cy="770979"/>
          </a:xfrm>
          <a:prstGeom prst="rect">
            <a:avLst/>
          </a:prstGeom>
        </p:spPr>
        <p:txBody>
          <a:bodyPr vert="horz" wrap="square" lIns="0" tIns="214883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sz="3600" spc="-10" dirty="0"/>
              <a:t>Objectives</a:t>
            </a:r>
            <a:endParaRPr sz="3600" dirty="0"/>
          </a:p>
        </p:txBody>
      </p:sp>
      <p:pic>
        <p:nvPicPr>
          <p:cNvPr id="3" name="object 3" descr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1950" y="190500"/>
            <a:ext cx="1095375" cy="1343025"/>
          </a:xfrm>
          <a:prstGeom prst="rect">
            <a:avLst/>
          </a:prstGeom>
        </p:spPr>
      </p:pic>
      <p:pic>
        <p:nvPicPr>
          <p:cNvPr id="4" name="object 4" descr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5600" y="190500"/>
            <a:ext cx="1514475" cy="134302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357312" y="2590800"/>
            <a:ext cx="9477375" cy="269843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API traffic continuously and identify suspicious request patterns.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known attacks using signatures and unknown attacks using anomaly detection.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JWT/OAuth authentication to strengthen API access security.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block malicious IPs and requests using runtime protection.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real-time alerts, logs, and security analytics for administrators.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90856B5-3DF6-F8F3-C3A9-A77899B12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BAF41FC0-173F-D913-FF57-B7FF631564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60090" y="429894"/>
            <a:ext cx="5376545" cy="770979"/>
          </a:xfrm>
          <a:prstGeom prst="rect">
            <a:avLst/>
          </a:prstGeom>
        </p:spPr>
        <p:txBody>
          <a:bodyPr vert="horz" wrap="square" lIns="0" tIns="214883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3600" spc="-10" dirty="0"/>
              <a:t>Architecture Diagram</a:t>
            </a:r>
            <a:endParaRPr sz="3600" dirty="0"/>
          </a:p>
        </p:txBody>
      </p:sp>
      <p:pic>
        <p:nvPicPr>
          <p:cNvPr id="3" name="object 3" descr="object 3">
            <a:extLst>
              <a:ext uri="{FF2B5EF4-FFF2-40B4-BE49-F238E27FC236}">
                <a16:creationId xmlns:a16="http://schemas.microsoft.com/office/drawing/2014/main" id="{47382614-5291-ED81-8932-0561E825FD4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1950" y="190500"/>
            <a:ext cx="1095375" cy="1343025"/>
          </a:xfrm>
          <a:prstGeom prst="rect">
            <a:avLst/>
          </a:prstGeom>
        </p:spPr>
      </p:pic>
      <p:pic>
        <p:nvPicPr>
          <p:cNvPr id="4" name="object 4" descr="object 5">
            <a:extLst>
              <a:ext uri="{FF2B5EF4-FFF2-40B4-BE49-F238E27FC236}">
                <a16:creationId xmlns:a16="http://schemas.microsoft.com/office/drawing/2014/main" id="{8C000660-A258-54D9-DE06-AF010ADF963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5600" y="190500"/>
            <a:ext cx="1514475" cy="1343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12C749-7ED2-9C70-A9F9-37E4A532A3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7324" y="1295400"/>
            <a:ext cx="9439275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192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676400" y="626937"/>
            <a:ext cx="8763000" cy="906017"/>
          </a:xfrm>
          <a:prstGeom prst="rect">
            <a:avLst/>
          </a:prstGeom>
        </p:spPr>
        <p:txBody>
          <a:bodyPr vert="horz" wrap="square" lIns="0" tIns="409575" rIns="0" bIns="0" rtlCol="0">
            <a:spAutoFit/>
          </a:bodyPr>
          <a:lstStyle/>
          <a:p>
            <a:pPr marL="1055370">
              <a:lnSpc>
                <a:spcPct val="100000"/>
              </a:lnSpc>
              <a:spcBef>
                <a:spcPts val="130"/>
              </a:spcBef>
            </a:pPr>
            <a:r>
              <a:rPr lang="en-IN" dirty="0"/>
              <a:t>Module 1: API Traffic Monitoring Module</a:t>
            </a:r>
            <a:endParaRPr spc="-10" dirty="0"/>
          </a:p>
        </p:txBody>
      </p:sp>
      <p:pic>
        <p:nvPicPr>
          <p:cNvPr id="3" name="object 3" descr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5600" y="190500"/>
            <a:ext cx="1514475" cy="1343025"/>
          </a:xfrm>
          <a:prstGeom prst="rect">
            <a:avLst/>
          </a:prstGeom>
        </p:spPr>
      </p:pic>
      <p:pic>
        <p:nvPicPr>
          <p:cNvPr id="4" name="object 4" descr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1950" y="190500"/>
            <a:ext cx="1095375" cy="134302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442085" y="2209800"/>
            <a:ext cx="9451976" cy="2820900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285750" lvl="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Continuously monitors incoming and outgoing API requests. </a:t>
            </a:r>
          </a:p>
          <a:p>
            <a:pPr marL="285750" lvl="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Collects request details such as IP address, endpoint, method, and timestamp. </a:t>
            </a:r>
          </a:p>
          <a:p>
            <a:pPr marL="285750" lvl="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authentication and authorization activities using JWT/OAuth. </a:t>
            </a:r>
          </a:p>
          <a:p>
            <a:pPr marL="285750" lvl="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Applies rate limiting to identify excessive or suspicious API requests. </a:t>
            </a:r>
          </a:p>
          <a:p>
            <a:pPr marL="285750" lvl="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security logs for real-time monitoring and further analysis.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9C71055-74E8-A4CF-55A4-97A27E91E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DCA06DE1-4F03-8994-EC5E-EB1AB7D1FA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36570" y="409003"/>
            <a:ext cx="8763000" cy="906017"/>
          </a:xfrm>
          <a:prstGeom prst="rect">
            <a:avLst/>
          </a:prstGeom>
        </p:spPr>
        <p:txBody>
          <a:bodyPr vert="horz" wrap="square" lIns="0" tIns="409575" rIns="0" bIns="0" rtlCol="0">
            <a:spAutoFit/>
          </a:bodyPr>
          <a:lstStyle/>
          <a:p>
            <a:pPr marL="1055370">
              <a:lnSpc>
                <a:spcPct val="100000"/>
              </a:lnSpc>
              <a:spcBef>
                <a:spcPts val="130"/>
              </a:spcBef>
            </a:pPr>
            <a:r>
              <a:rPr lang="en-IN" dirty="0"/>
              <a:t>Module1 Output</a:t>
            </a:r>
            <a:endParaRPr spc="-10" dirty="0"/>
          </a:p>
        </p:txBody>
      </p:sp>
      <p:pic>
        <p:nvPicPr>
          <p:cNvPr id="3" name="object 3" descr="object 5">
            <a:extLst>
              <a:ext uri="{FF2B5EF4-FFF2-40B4-BE49-F238E27FC236}">
                <a16:creationId xmlns:a16="http://schemas.microsoft.com/office/drawing/2014/main" id="{D30ECFBC-2077-8FEE-E1E1-17841065A6F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5600" y="190500"/>
            <a:ext cx="1514475" cy="1343025"/>
          </a:xfrm>
          <a:prstGeom prst="rect">
            <a:avLst/>
          </a:prstGeom>
        </p:spPr>
      </p:pic>
      <p:pic>
        <p:nvPicPr>
          <p:cNvPr id="4" name="object 4" descr="object 4">
            <a:extLst>
              <a:ext uri="{FF2B5EF4-FFF2-40B4-BE49-F238E27FC236}">
                <a16:creationId xmlns:a16="http://schemas.microsoft.com/office/drawing/2014/main" id="{FC597802-A3A3-8E88-B1D4-C09F0216E7C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1950" y="190500"/>
            <a:ext cx="1095375" cy="1343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97C1A1A-F086-AAED-E648-690F6D52C9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1600200"/>
            <a:ext cx="10610850" cy="491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598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AC5C7BB-D934-4A4A-A9BA-2CB36C991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156DB7D5-F985-F3D8-4285-86D62F10B9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17662" y="220980"/>
            <a:ext cx="8897938" cy="1398460"/>
          </a:xfrm>
          <a:prstGeom prst="rect">
            <a:avLst/>
          </a:prstGeom>
        </p:spPr>
        <p:txBody>
          <a:bodyPr vert="horz" wrap="square" lIns="0" tIns="409575" rIns="0" bIns="0" rtlCol="0">
            <a:spAutoFit/>
          </a:bodyPr>
          <a:lstStyle/>
          <a:p>
            <a:pPr marL="1055370" algn="ctr">
              <a:lnSpc>
                <a:spcPct val="100000"/>
              </a:lnSpc>
              <a:spcBef>
                <a:spcPts val="130"/>
              </a:spcBef>
            </a:pPr>
            <a:r>
              <a:rPr lang="en-IN" dirty="0"/>
              <a:t>Module 2:Intelligent Attack Detection Module</a:t>
            </a:r>
            <a:endParaRPr spc="-10" dirty="0"/>
          </a:p>
        </p:txBody>
      </p:sp>
      <p:pic>
        <p:nvPicPr>
          <p:cNvPr id="3" name="object 3" descr="object 5">
            <a:extLst>
              <a:ext uri="{FF2B5EF4-FFF2-40B4-BE49-F238E27FC236}">
                <a16:creationId xmlns:a16="http://schemas.microsoft.com/office/drawing/2014/main" id="{CDFFCE93-DD04-0BF1-9C59-7A3710A1EAA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5600" y="190500"/>
            <a:ext cx="1514475" cy="1343025"/>
          </a:xfrm>
          <a:prstGeom prst="rect">
            <a:avLst/>
          </a:prstGeom>
        </p:spPr>
      </p:pic>
      <p:pic>
        <p:nvPicPr>
          <p:cNvPr id="4" name="object 4" descr="object 4">
            <a:extLst>
              <a:ext uri="{FF2B5EF4-FFF2-40B4-BE49-F238E27FC236}">
                <a16:creationId xmlns:a16="http://schemas.microsoft.com/office/drawing/2014/main" id="{3FD075FE-F37B-F625-11A8-806FDDCF5BE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1950" y="190500"/>
            <a:ext cx="1095375" cy="1343025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5C9624DE-EE56-0B88-B828-147459595DE9}"/>
              </a:ext>
            </a:extLst>
          </p:cNvPr>
          <p:cNvSpPr txBox="1"/>
          <p:nvPr/>
        </p:nvSpPr>
        <p:spPr>
          <a:xfrm>
            <a:off x="1939925" y="2209800"/>
            <a:ext cx="8575675" cy="2820900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 traffic to identify abnormal request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machine learning and anomaly detection to identify unknown attacks.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signature-based detection to recognize known attack patterns.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threats such as injection attacks, unauthorized access, and request flooding.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alerts and attack classifications for suspicious API activity.</a:t>
            </a:r>
          </a:p>
        </p:txBody>
      </p:sp>
    </p:spTree>
    <p:extLst>
      <p:ext uri="{BB962C8B-B14F-4D97-AF65-F5344CB8AC3E}">
        <p14:creationId xmlns:p14="http://schemas.microsoft.com/office/powerpoint/2010/main" val="52732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49EE96B-BABE-B527-687F-DDE2E8B2C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ECD56BA8-BE0E-05B4-AC52-83E3C0B410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45197" y="215900"/>
            <a:ext cx="8897938" cy="906017"/>
          </a:xfrm>
          <a:prstGeom prst="rect">
            <a:avLst/>
          </a:prstGeom>
        </p:spPr>
        <p:txBody>
          <a:bodyPr vert="horz" wrap="square" lIns="0" tIns="409575" rIns="0" bIns="0" rtlCol="0">
            <a:spAutoFit/>
          </a:bodyPr>
          <a:lstStyle/>
          <a:p>
            <a:pPr marL="1055370" algn="ctr">
              <a:lnSpc>
                <a:spcPct val="100000"/>
              </a:lnSpc>
              <a:spcBef>
                <a:spcPts val="130"/>
              </a:spcBef>
            </a:pPr>
            <a:r>
              <a:rPr lang="en-IN" dirty="0"/>
              <a:t>Module 2 Output</a:t>
            </a:r>
            <a:endParaRPr spc="-10" dirty="0"/>
          </a:p>
        </p:txBody>
      </p:sp>
      <p:pic>
        <p:nvPicPr>
          <p:cNvPr id="3" name="object 3" descr="object 5">
            <a:extLst>
              <a:ext uri="{FF2B5EF4-FFF2-40B4-BE49-F238E27FC236}">
                <a16:creationId xmlns:a16="http://schemas.microsoft.com/office/drawing/2014/main" id="{5D3423C6-7C60-2BD4-A6F8-F8129F51799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5600" y="190500"/>
            <a:ext cx="1514475" cy="1343025"/>
          </a:xfrm>
          <a:prstGeom prst="rect">
            <a:avLst/>
          </a:prstGeom>
        </p:spPr>
      </p:pic>
      <p:pic>
        <p:nvPicPr>
          <p:cNvPr id="4" name="object 4" descr="object 4">
            <a:extLst>
              <a:ext uri="{FF2B5EF4-FFF2-40B4-BE49-F238E27FC236}">
                <a16:creationId xmlns:a16="http://schemas.microsoft.com/office/drawing/2014/main" id="{ED7E6634-583D-9FFB-28EB-672F6B9C432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1950" y="190500"/>
            <a:ext cx="1095375" cy="1343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CF186A-F95F-92B4-30D1-95CA1B1449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558925"/>
            <a:ext cx="10434637" cy="5120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854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E647171-F8DA-680D-A4CD-53666C2CC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F0BCBF45-62F0-6713-04BC-C8F67A5748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00200" y="228600"/>
            <a:ext cx="8194674" cy="1398460"/>
          </a:xfrm>
          <a:prstGeom prst="rect">
            <a:avLst/>
          </a:prstGeom>
        </p:spPr>
        <p:txBody>
          <a:bodyPr vert="horz" wrap="square" lIns="0" tIns="409575" rIns="0" bIns="0" rtlCol="0">
            <a:spAutoFit/>
          </a:bodyPr>
          <a:lstStyle/>
          <a:p>
            <a:pPr marL="1055370" algn="ctr">
              <a:lnSpc>
                <a:spcPct val="100000"/>
              </a:lnSpc>
              <a:spcBef>
                <a:spcPts val="130"/>
              </a:spcBef>
            </a:pPr>
            <a:r>
              <a:rPr lang="en-IN" dirty="0"/>
              <a:t>Module 3:Runtime Protection &amp; Response Module</a:t>
            </a:r>
            <a:endParaRPr spc="-10" dirty="0"/>
          </a:p>
        </p:txBody>
      </p:sp>
      <p:pic>
        <p:nvPicPr>
          <p:cNvPr id="3" name="object 3" descr="object 5">
            <a:extLst>
              <a:ext uri="{FF2B5EF4-FFF2-40B4-BE49-F238E27FC236}">
                <a16:creationId xmlns:a16="http://schemas.microsoft.com/office/drawing/2014/main" id="{D9AE2744-21F3-1548-B1A5-25D4E388E3A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5600" y="190500"/>
            <a:ext cx="1514475" cy="1343025"/>
          </a:xfrm>
          <a:prstGeom prst="rect">
            <a:avLst/>
          </a:prstGeom>
        </p:spPr>
      </p:pic>
      <p:pic>
        <p:nvPicPr>
          <p:cNvPr id="4" name="object 4" descr="object 4">
            <a:extLst>
              <a:ext uri="{FF2B5EF4-FFF2-40B4-BE49-F238E27FC236}">
                <a16:creationId xmlns:a16="http://schemas.microsoft.com/office/drawing/2014/main" id="{68F1581F-4C30-6A6B-3023-C4A90D9A239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1950" y="190500"/>
            <a:ext cx="1095375" cy="1343025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A79DE0EC-4F26-7DDA-E021-FCCFBD72CA92}"/>
              </a:ext>
            </a:extLst>
          </p:cNvPr>
          <p:cNvSpPr txBox="1"/>
          <p:nvPr/>
        </p:nvSpPr>
        <p:spPr>
          <a:xfrm>
            <a:off x="1939925" y="2209800"/>
            <a:ext cx="8575675" cy="2820900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blocks requests identified as malicious.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IP blocking and rate limiting to prevent repeated attacks.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Applies WAF-based protection against common web and API threats.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immediate response to reduce the impact of security incidents.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Records response actions and security events for administrator analysis.</a:t>
            </a:r>
          </a:p>
        </p:txBody>
      </p:sp>
    </p:spTree>
    <p:extLst>
      <p:ext uri="{BB962C8B-B14F-4D97-AF65-F5344CB8AC3E}">
        <p14:creationId xmlns:p14="http://schemas.microsoft.com/office/powerpoint/2010/main" val="2865741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296DBCB-7D01-C924-290F-DFAB0EEF7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A1104F45-3B7D-9176-51D5-5C555BEFBD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304800"/>
            <a:ext cx="8194674" cy="906017"/>
          </a:xfrm>
          <a:prstGeom prst="rect">
            <a:avLst/>
          </a:prstGeom>
        </p:spPr>
        <p:txBody>
          <a:bodyPr vert="horz" wrap="square" lIns="0" tIns="409575" rIns="0" bIns="0" rtlCol="0">
            <a:spAutoFit/>
          </a:bodyPr>
          <a:lstStyle/>
          <a:p>
            <a:pPr marL="1055370" algn="ctr">
              <a:lnSpc>
                <a:spcPct val="100000"/>
              </a:lnSpc>
              <a:spcBef>
                <a:spcPts val="130"/>
              </a:spcBef>
            </a:pPr>
            <a:r>
              <a:rPr lang="en-IN" dirty="0"/>
              <a:t>Module 3 Output</a:t>
            </a:r>
            <a:endParaRPr spc="-10" dirty="0"/>
          </a:p>
        </p:txBody>
      </p:sp>
      <p:pic>
        <p:nvPicPr>
          <p:cNvPr id="3" name="object 3" descr="object 5">
            <a:extLst>
              <a:ext uri="{FF2B5EF4-FFF2-40B4-BE49-F238E27FC236}">
                <a16:creationId xmlns:a16="http://schemas.microsoft.com/office/drawing/2014/main" id="{11C2DE22-C303-0063-AC40-1A2E24F4074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5600" y="190500"/>
            <a:ext cx="1514475" cy="1343025"/>
          </a:xfrm>
          <a:prstGeom prst="rect">
            <a:avLst/>
          </a:prstGeom>
        </p:spPr>
      </p:pic>
      <p:pic>
        <p:nvPicPr>
          <p:cNvPr id="4" name="object 4" descr="object 4">
            <a:extLst>
              <a:ext uri="{FF2B5EF4-FFF2-40B4-BE49-F238E27FC236}">
                <a16:creationId xmlns:a16="http://schemas.microsoft.com/office/drawing/2014/main" id="{4B317994-9B55-726D-BFF3-2CBB9FA46C0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1950" y="190500"/>
            <a:ext cx="1095375" cy="1343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ECD5E4-AC1D-9141-FA87-7564767FC2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1549976"/>
            <a:ext cx="10134600" cy="5117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6172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4400" y="1753719"/>
            <a:ext cx="10047923" cy="49137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ML Models – Use deep learning and more advanced anomaly-detection models to improve attack detection accuracy.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WAF Integration – Integrate the framework with a production-grade Web Application Firewall for stronger protection.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Deployment – Deploy the system on cloud platforms to protect APIs at larger scale.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Threat Intelligence – Integrate threat-intelligence feeds to identify known malicious IPs and emerging attack patterns.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Response &amp; Scalability – Improve automated incident response and support large-scale API environments with distributed monitoring.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260090" y="429894"/>
            <a:ext cx="5376545" cy="589520"/>
          </a:xfrm>
          <a:prstGeom prst="rect">
            <a:avLst/>
          </a:prstGeom>
        </p:spPr>
        <p:txBody>
          <a:bodyPr vert="horz" wrap="square" lIns="0" tIns="96139" rIns="0" bIns="0" rtlCol="0">
            <a:spAutoFit/>
          </a:bodyPr>
          <a:lstStyle/>
          <a:p>
            <a:pPr marL="1797050">
              <a:lnSpc>
                <a:spcPct val="100000"/>
              </a:lnSpc>
              <a:spcBef>
                <a:spcPts val="130"/>
              </a:spcBef>
            </a:pPr>
            <a:r>
              <a:rPr lang="en-IN" spc="-10" dirty="0"/>
              <a:t>Future Work</a:t>
            </a:r>
            <a:endParaRPr spc="-10" dirty="0"/>
          </a:p>
        </p:txBody>
      </p:sp>
      <p:pic>
        <p:nvPicPr>
          <p:cNvPr id="4" name="object 4" descr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5600" y="190500"/>
            <a:ext cx="1514475" cy="1343025"/>
          </a:xfrm>
          <a:prstGeom prst="rect">
            <a:avLst/>
          </a:prstGeom>
        </p:spPr>
      </p:pic>
      <p:pic>
        <p:nvPicPr>
          <p:cNvPr id="5" name="object 5" descr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1950" y="190500"/>
            <a:ext cx="1095375" cy="13430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91BF93F-3FA5-7AAE-36E2-2557BBA3D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23E184C-5206-C5D9-C63E-690023D78457}"/>
              </a:ext>
            </a:extLst>
          </p:cNvPr>
          <p:cNvSpPr txBox="1"/>
          <p:nvPr/>
        </p:nvSpPr>
        <p:spPr>
          <a:xfrm>
            <a:off x="1828800" y="2362200"/>
            <a:ext cx="9220200" cy="26977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framework provides intelligent and real-time protection for REST APIs.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Combining machine learning with signature-based detection improves threat identification.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blocking reduces the response time to malicious activities.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Monitoring, logging, and analytics help administrators understand API security risks.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improves API security, availability, and overall runtime protection.</a:t>
            </a:r>
          </a:p>
        </p:txBody>
      </p:sp>
      <p:sp>
        <p:nvSpPr>
          <p:cNvPr id="3" name="object 3" descr="$PPTXTitle">
            <a:extLst>
              <a:ext uri="{FF2B5EF4-FFF2-40B4-BE49-F238E27FC236}">
                <a16:creationId xmlns:a16="http://schemas.microsoft.com/office/drawing/2014/main" id="{3AD1CC55-FD1F-6130-4528-4968B26EC1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6139" rIns="0" bIns="0" rtlCol="0">
            <a:spAutoFit/>
          </a:bodyPr>
          <a:lstStyle/>
          <a:p>
            <a:pPr marL="179705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Conclusion</a:t>
            </a:r>
          </a:p>
        </p:txBody>
      </p:sp>
      <p:pic>
        <p:nvPicPr>
          <p:cNvPr id="4" name="object 4" descr="object 5">
            <a:extLst>
              <a:ext uri="{FF2B5EF4-FFF2-40B4-BE49-F238E27FC236}">
                <a16:creationId xmlns:a16="http://schemas.microsoft.com/office/drawing/2014/main" id="{FA1DCB60-FB9C-808C-29A6-B2B51151B87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5600" y="190500"/>
            <a:ext cx="1514475" cy="1343025"/>
          </a:xfrm>
          <a:prstGeom prst="rect">
            <a:avLst/>
          </a:prstGeom>
        </p:spPr>
      </p:pic>
      <p:pic>
        <p:nvPicPr>
          <p:cNvPr id="5" name="object 5" descr="object 4">
            <a:extLst>
              <a:ext uri="{FF2B5EF4-FFF2-40B4-BE49-F238E27FC236}">
                <a16:creationId xmlns:a16="http://schemas.microsoft.com/office/drawing/2014/main" id="{846E329F-C2D9-6F24-6236-18BC4CDA18D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1950" y="190500"/>
            <a:ext cx="1095375" cy="134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4087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5564C37-2C5B-5D62-0626-8CB97C331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2E30FD6-B33A-2A51-AD4A-C556A956BCF1}"/>
              </a:ext>
            </a:extLst>
          </p:cNvPr>
          <p:cNvSpPr txBox="1"/>
          <p:nvPr/>
        </p:nvSpPr>
        <p:spPr>
          <a:xfrm>
            <a:off x="876300" y="1753719"/>
            <a:ext cx="10439400" cy="49137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OWASP API Security Top 10 – Guidelines for identifying and mitigating major API security risks.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OWASP API Security Testing Framework – Reference for API security testing and validation techniques.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OWASP Top 10: 2025 – Reference for common web application security risks such as injection, authentication failures, and security logging.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 – Isolation Forest – Documentation for the anomaly-detection algorithm used in the ML module.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 Documentation – Reference for developing the REST API backend and middleware.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OWASP API Security Tools – Reference for API runtime security and tools designed to detect and prevent malicious API requests.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OWASP API Security Project – General security guidance and best practices for designing and securing APIs.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 descr="$PPTXTitle">
            <a:extLst>
              <a:ext uri="{FF2B5EF4-FFF2-40B4-BE49-F238E27FC236}">
                <a16:creationId xmlns:a16="http://schemas.microsoft.com/office/drawing/2014/main" id="{3A61B0A4-5E93-7607-438F-DBF7C749BC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60090" y="429894"/>
            <a:ext cx="5376545" cy="589520"/>
          </a:xfrm>
          <a:prstGeom prst="rect">
            <a:avLst/>
          </a:prstGeom>
        </p:spPr>
        <p:txBody>
          <a:bodyPr vert="horz" wrap="square" lIns="0" tIns="96139" rIns="0" bIns="0" rtlCol="0">
            <a:spAutoFit/>
          </a:bodyPr>
          <a:lstStyle/>
          <a:p>
            <a:pPr marL="1797050">
              <a:lnSpc>
                <a:spcPct val="100000"/>
              </a:lnSpc>
              <a:spcBef>
                <a:spcPts val="130"/>
              </a:spcBef>
            </a:pPr>
            <a:r>
              <a:rPr lang="en-IN" spc="-10" dirty="0"/>
              <a:t>References</a:t>
            </a:r>
            <a:endParaRPr spc="-10" dirty="0"/>
          </a:p>
        </p:txBody>
      </p:sp>
      <p:pic>
        <p:nvPicPr>
          <p:cNvPr id="4" name="object 4" descr="object 5">
            <a:extLst>
              <a:ext uri="{FF2B5EF4-FFF2-40B4-BE49-F238E27FC236}">
                <a16:creationId xmlns:a16="http://schemas.microsoft.com/office/drawing/2014/main" id="{5BEC3C85-E53F-4D33-7728-DE0AEB3A800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5600" y="190500"/>
            <a:ext cx="1514475" cy="1343025"/>
          </a:xfrm>
          <a:prstGeom prst="rect">
            <a:avLst/>
          </a:prstGeom>
        </p:spPr>
      </p:pic>
      <p:pic>
        <p:nvPicPr>
          <p:cNvPr id="5" name="object 5" descr="object 4">
            <a:extLst>
              <a:ext uri="{FF2B5EF4-FFF2-40B4-BE49-F238E27FC236}">
                <a16:creationId xmlns:a16="http://schemas.microsoft.com/office/drawing/2014/main" id="{CE180285-CD11-47B1-7870-2FDD1152AEE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1950" y="190500"/>
            <a:ext cx="1095375" cy="134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1603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23234" y="2522601"/>
            <a:ext cx="4349115" cy="10902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950" b="0" dirty="0">
                <a:latin typeface="Times New Roman"/>
                <a:cs typeface="Times New Roman"/>
              </a:rPr>
              <a:t>Thank</a:t>
            </a:r>
            <a:r>
              <a:rPr sz="6950" b="0" spc="80" dirty="0">
                <a:latin typeface="Times New Roman"/>
                <a:cs typeface="Times New Roman"/>
              </a:rPr>
              <a:t> </a:t>
            </a:r>
            <a:r>
              <a:rPr sz="6950" b="0" spc="-20" dirty="0">
                <a:latin typeface="Times New Roman"/>
                <a:cs typeface="Times New Roman"/>
              </a:rPr>
              <a:t>You!</a:t>
            </a:r>
            <a:endParaRPr sz="6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143</TotalTime>
  <Words>694</Words>
  <Application>Microsoft Office PowerPoint</Application>
  <PresentationFormat>Widescreen</PresentationFormat>
  <Paragraphs>70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Times New Roman</vt:lpstr>
      <vt:lpstr>Office Theme</vt:lpstr>
      <vt:lpstr>Intelligent API Attack Detection and Runtime Protection Framework</vt:lpstr>
      <vt:lpstr>Introduction</vt:lpstr>
      <vt:lpstr>PROBLEM STATEMENT</vt:lpstr>
      <vt:lpstr>Objectives</vt:lpstr>
      <vt:lpstr>Architecture Diagram</vt:lpstr>
      <vt:lpstr>Module 1: API Traffic Monitoring Module</vt:lpstr>
      <vt:lpstr>Module1 Output</vt:lpstr>
      <vt:lpstr>Module 2:Intelligent Attack Detection Module</vt:lpstr>
      <vt:lpstr>Module 2 Output</vt:lpstr>
      <vt:lpstr>Module 3:Runtime Protection &amp; Response Module</vt:lpstr>
      <vt:lpstr>Module 3 Output</vt:lpstr>
      <vt:lpstr>Future Work</vt:lpstr>
      <vt:lpstr>Conclusion</vt:lpstr>
      <vt:lpstr>References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 K</dc:creator>
  <cp:lastModifiedBy>A K</cp:lastModifiedBy>
  <cp:revision>33</cp:revision>
  <dcterms:created xsi:type="dcterms:W3CDTF">2026-08-05T05:31:35Z</dcterms:created>
  <dcterms:modified xsi:type="dcterms:W3CDTF">2026-08-25T03:15:29Z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2026-08-04T00:00:00Z</vt:filetime>
  </property>
  <property fmtid="{D5CDD505-2E9C-101B-9397-08002B2CF9AE}" pid="4" name="LastSaved">
    <vt:filetime>2026-08-05T00:00:00Z</vt:filetime>
  </property>
</Properties>
</file>